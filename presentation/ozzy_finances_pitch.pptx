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[≈15 s] Este é o Ozzy Finances, uma proposta de controle financeiro simples para pequenos empreendedores. Mas hoje eu não venho vender uma ideia: venho contar como investigamos se o problema existe de fato e se a proposta desperta interesse, e o que decidimos a partir disso.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[≈35 s] O ponto de partida foi uma suposição nossa: pequenos empreendedores e autônomos teriam dificuldade para manter o controle financeiro em dia e para enxergar quanto realmente sobra. Imaginávamos três causas: a mistura entre o dinheiro pessoal e o do negócio; registros que não se sustentam, por falta de tempo ou esquecimento; e a dificuldade de entender o lucro real para definir preços e decidir. É importante frisar que, até aqui, isso era hipótese da equipe, não relato de usuário. O passo seguinte foi justamente colocá-la à prova.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[≈30 s] A partir dessa hipótese, desenhamos a proposta do Ozzy Finances: simplificar o controle financeiro em três movimentos. Registrar receitas e despesas sem complicação, entender para onde o dinheiro está indo e, com isso, decidir melhor. A tela que vocês veem é um mockup da nossa landing page, com dados fictícios: ela representa a proposta, não um produto pronto. Recursos como categorização automática por inteligência artificial aparecem aqui apenas como possibilidades a validar.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[≈35 s] A validação aconteceu em duas etapas. Na primeira, de descoberta, aplicamos um formulário para entender como as pessoas controlam suas finanças hoje e onde sentem dificuldade: tivemos quatro respostas. Na segunda, publicamos uma landing page com a proposta do Ozzy Finances e um formulário de interesse em testar a solução, que recebeu quinze respostas. Um cuidado importante: essa segunda etapa avaliou a proposta de valor e o interesse declarado. Ninguém usou um produto funcional, então ainda não medimos comportamento de uso.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[≈50 s] E o que encontramos? Na primeira etapa, as quatro respostas apontaram na direção da hipótese: dificuldade de manter os registros, falta de tempo, esquecimento e pouca clareza sobre o resultado. Na segunda, das quinze pessoas que responderam, seis disseram que querem testar gratuitamente, seis responderam "talvez" e três não têm interesse agora. Esses percentuais valem para quem respondeu o formulário, não para todos que visitaram a página. Entre as dificuldades, três temas tiveram três seleções cada: a mistura de finanças pessoais e do negócio, não saber se há lucro ou prejuízo e a falta de tempo. Mais revelador do que os números foram os relatos: empreendedores que não conseguem dizer quanto realmente sobra, calcular o custo por produto ou saber quais serviços compensam. É aí que o problema ganha rosto.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[≈40 s] Como ler tudo isso com honestidade? De um lado, há sinais favoráveis: a dificuldade com registros e com o resultado financeiro se repetiu, seis pessoas aceitaram testar e os comentários trouxeram situações bem concretas. De outro, há limites claros. Nem todos se reconheceram no problema; alguns já usam sistemas de gestão ou precisam de algo mais complexo; e um "talvez" não é um sim. Também não medimos uso recorrente, retenção nem disposição a pagar, e, sem dados de visitantes, não temos taxa de conversão da página. Por isso tratamos esses resultados como sinais iniciais, não como prova de viabilidade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[≈35 s] Diante disso, nossa decisão é perseguir, com ajustes. O problema mostrou relevância e a proposta gerou interesse, mas ainda não sabemos quem é o público prioritário, qual é a experiência ideal nem se as pessoas pagariam. Por isso, o próximo passo é focar em prestadores de serviço e autônomos com controle manual, construir um protótipo simples do fluxo básico e testá-lo com usuários reais, observando se mantêm os registros e se isso ajuda em decisões concretas. Inteligência artificial fica para depois. Ouvir usuários não confirmou a ideia inteira: mostrou onde vale a pena construir.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D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61"/>
            <a:ext cx="105664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41501"/>
            <a:ext cx="10566400" cy="4203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61"/>
            <a:ext cx="1056640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41501"/>
            <a:ext cx="10566400" cy="4203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07198"/>
            <a:ext cx="54155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DISCOVERY · PITCH DE VALIDAÇÃO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49158"/>
            <a:ext cx="5415534" cy="665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Ozzy Finances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017838"/>
            <a:ext cx="5415534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2F5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hipótese à evidência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2800" y="3626167"/>
            <a:ext cx="5415534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financeiro simples para pequenos empreendedores: quanto entrou, quanto saiu e quanto realmente sobrou.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4683442"/>
            <a:ext cx="5257800" cy="467360"/>
          </a:xfrm>
          <a:prstGeom prst="roundRect">
            <a:avLst>
              <a:gd name="adj" fmla="val 19022"/>
            </a:avLst>
          </a:prstGeom>
          <a:solidFill>
            <a:srgbClr val="E6ECF7"/>
          </a:solidFill>
          <a:ln/>
        </p:spPr>
        <p:txBody>
          <a:bodyPr wrap="square" lIns="151762" tIns="100962" rIns="4696" bIns="7556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 existe de fato? A proposta desperta interesse?</a:t>
            </a:r>
            <a:endParaRPr lang="en-US" sz="1200" dirty="0"/>
          </a:p>
        </p:txBody>
      </p:sp>
      <p:pic>
        <p:nvPicPr>
          <p:cNvPr id="7" name="Image 0" descr="Captura da landing page do Ozzy Finances: cartão Resumo do mês com receitas, despesas e resultado, em dados fictícios">    </p:cNvPr>
          <p:cNvPicPr>
            <a:picLocks noChangeAspect="1"/>
          </p:cNvPicPr>
          <p:nvPr/>
        </p:nvPicPr>
        <p:blipFill>
          <a:blip r:embed="rId1"/>
          <a:srcRect l="-14" r="-14" t="0" b="0"/>
          <a:stretch/>
        </p:blipFill>
        <p:spPr>
          <a:xfrm>
            <a:off x="6686550" y="1115695"/>
            <a:ext cx="4686300" cy="4311650"/>
          </a:xfrm>
          <a:prstGeom prst="roundRect">
            <a:avLst>
              <a:gd name="adj" fmla="val 2798"/>
            </a:avLst>
          </a:prstGeom>
          <a:effectLst>
            <a:outerShdw sx="100000" sy="100000" kx="0" ky="0" algn="bl" rotWithShape="0" blurRad="381000" dist="152400" dir="5400000">
              <a:srgbClr val="0D1F3C">
                <a:alpha val="12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6683375" y="1112520"/>
            <a:ext cx="4692650" cy="4318000"/>
          </a:xfrm>
          <a:prstGeom prst="roundRect">
            <a:avLst>
              <a:gd name="adj" fmla="val 2868"/>
            </a:avLst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260241" y="5535295"/>
            <a:ext cx="35389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 da landing page · dados fictícios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0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 e a hipótese inicial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41500"/>
            <a:ext cx="5232400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Pequenos empreendedores e autônomos podem ter dificuldade para manter o controle financeiro em dia e enxergar receitas, despesas e lucro.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" y="4574540"/>
            <a:ext cx="5080000" cy="1267460"/>
          </a:xfrm>
          <a:prstGeom prst="roundRect">
            <a:avLst>
              <a:gd name="adj" fmla="val 10020"/>
            </a:avLst>
          </a:prstGeom>
          <a:solidFill>
            <a:srgbClr val="F5F7F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4904740"/>
            <a:ext cx="12566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5156200"/>
            <a:ext cx="12566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F8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R$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323465" y="5030470"/>
            <a:ext cx="2232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97468" y="4904740"/>
            <a:ext cx="12566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Saídas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97468" y="5156200"/>
            <a:ext cx="12566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 R$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04933" y="5030470"/>
            <a:ext cx="2232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178935" y="4777740"/>
            <a:ext cx="1510665" cy="861060"/>
          </a:xfrm>
          <a:prstGeom prst="roundRect">
            <a:avLst>
              <a:gd name="adj" fmla="val 10324"/>
            </a:avLst>
          </a:prstGeom>
          <a:solidFill>
            <a:srgbClr val="0D1F3C"/>
          </a:solidFill>
          <a:ln/>
        </p:spPr>
      </p:sp>
      <p:sp>
        <p:nvSpPr>
          <p:cNvPr id="13" name="Text 11"/>
          <p:cNvSpPr/>
          <p:nvPr/>
        </p:nvSpPr>
        <p:spPr>
          <a:xfrm>
            <a:off x="4331335" y="4904740"/>
            <a:ext cx="12566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4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Lucro real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31335" y="5156200"/>
            <a:ext cx="12566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99200" y="1841500"/>
            <a:ext cx="3357325" cy="340360"/>
          </a:xfrm>
          <a:prstGeom prst="roundRect">
            <a:avLst>
              <a:gd name="adj" fmla="val 50000"/>
            </a:avLst>
          </a:prstGeom>
          <a:solidFill>
            <a:srgbClr val="E6ECF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Hipótese inicial — antes de ouvir usuários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2375" y="2312035"/>
            <a:ext cx="5073650" cy="826770"/>
          </a:xfrm>
          <a:prstGeom prst="roundRect">
            <a:avLst>
              <a:gd name="adj" fmla="val 11905"/>
            </a:avLst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7480" y="2479040"/>
            <a:ext cx="48033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Finanças misturadas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07480" y="2758440"/>
            <a:ext cx="4803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Dinheiro pessoal e do negócio na mesma conta.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2375" y="3272155"/>
            <a:ext cx="5073650" cy="826770"/>
          </a:xfrm>
          <a:prstGeom prst="roundRect">
            <a:avLst>
              <a:gd name="adj" fmla="val 11905"/>
            </a:avLst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7480" y="3439160"/>
            <a:ext cx="48033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Registros que não se mantêm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07480" y="3718560"/>
            <a:ext cx="4803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 de tempo e esquecimento.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2375" y="4232275"/>
            <a:ext cx="5073650" cy="826770"/>
          </a:xfrm>
          <a:prstGeom prst="roundRect">
            <a:avLst>
              <a:gd name="adj" fmla="val 11905"/>
            </a:avLst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7480" y="4399280"/>
            <a:ext cx="48033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Lucro pouco claro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07480" y="4678680"/>
            <a:ext cx="4803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Dificuldade para precificar e decidir.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41"/>
            <a:ext cx="664197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Suposições da equipe. O que os participantes relataram está nas evidências.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67939" y="6238241"/>
            <a:ext cx="171126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Ozzy Finances · 2/7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SOLUÇÃO PROPOSTA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registro à clareza sobre o lucro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972945"/>
            <a:ext cx="5334000" cy="3435350"/>
          </a:xfrm>
          <a:prstGeom prst="roundRect">
            <a:avLst>
              <a:gd name="adj" fmla="val 3697"/>
            </a:avLst>
          </a:prstGeom>
          <a:solidFill>
            <a:srgbClr val="FDFDFE"/>
          </a:solidFill>
          <a:ln/>
          <a:effectLst>
            <a:outerShdw sx="100000" sy="100000" kx="0" ky="0" algn="bl" rotWithShape="0" blurRad="381000" dist="152400" dir="5400000">
              <a:srgbClr val="0D1F3C">
                <a:alpha val="10000"/>
              </a:srgbClr>
            </a:outerShdw>
          </a:effectLst>
        </p:spPr>
      </p:sp>
      <p:pic>
        <p:nvPicPr>
          <p:cNvPr id="5" name="Image 0" descr="Captura da landing page: tela Visão geral com receitas, despesas, resultado, despesas por categoria e ponto de atenção, em dados fictícios">    </p:cNvPr>
          <p:cNvPicPr>
            <a:picLocks noChangeAspect="1"/>
          </p:cNvPicPr>
          <p:nvPr/>
        </p:nvPicPr>
        <p:blipFill>
          <a:blip r:embed="rId1"/>
          <a:srcRect l="-74" r="-74" t="0" b="0"/>
          <a:stretch/>
        </p:blipFill>
        <p:spPr>
          <a:xfrm>
            <a:off x="819150" y="1979295"/>
            <a:ext cx="5321300" cy="3422650"/>
          </a:xfrm>
          <a:prstGeom prst="roundRect">
            <a:avLst>
              <a:gd name="adj" fmla="val 3525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976120"/>
            <a:ext cx="5327650" cy="3429000"/>
          </a:xfrm>
          <a:prstGeom prst="roundRect">
            <a:avLst>
              <a:gd name="adj" fmla="val 3611"/>
            </a:avLst>
          </a:prstGeom>
          <a:noFill/>
          <a:ln w="6350">
            <a:solidFill>
              <a:srgbClr val="DDE3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5497195"/>
            <a:ext cx="54940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Mockup da landing page · exemplo ilustrativo, dados fictícios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53200" y="2514600"/>
            <a:ext cx="266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5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21500" y="2514600"/>
            <a:ext cx="459143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21500" y="2781300"/>
            <a:ext cx="45914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Anotar e organizar receitas e despesas sem complicação.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53200" y="3172461"/>
            <a:ext cx="30416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5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58965" y="3172461"/>
            <a:ext cx="455284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Entender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958965" y="3439161"/>
            <a:ext cx="455284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 para onde o dinheiro vai e quanto sobrou.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53200" y="3830320"/>
            <a:ext cx="3083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F5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62537" y="3830320"/>
            <a:ext cx="45491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Decidir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962537" y="4097020"/>
            <a:ext cx="454916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Usar o lucro real para apoiar decisões.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53200" y="4488180"/>
            <a:ext cx="4826000" cy="680720"/>
          </a:xfrm>
          <a:prstGeom prst="roundRect">
            <a:avLst>
              <a:gd name="adj" fmla="val 13060"/>
            </a:avLst>
          </a:prstGeom>
          <a:solidFill>
            <a:srgbClr val="E6ECF7"/>
          </a:solidFill>
          <a:ln/>
        </p:spPr>
        <p:txBody>
          <a:bodyPr wrap="square" lIns="126362" tIns="100962" rIns="0" bIns="7556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validar:</a:t>
            </a:r>
            <a:r>
              <a:rPr lang="en-US" sz="120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categorização e síntese por IA. Nada disso foi implementado ou testado.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41"/>
            <a:ext cx="48127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Benefícios pretendidos, não funcionalidades entregues.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66510" y="6238241"/>
            <a:ext cx="17126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Ozzy Finances · 3/7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EXPERIMENTOS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em duas etapas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790700"/>
            <a:ext cx="830263" cy="340360"/>
          </a:xfrm>
          <a:prstGeom prst="roundRect">
            <a:avLst>
              <a:gd name="adj" fmla="val 50000"/>
            </a:avLst>
          </a:prstGeom>
          <a:solidFill>
            <a:srgbClr val="0D1F3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 1</a:t>
            </a:r>
            <a:endParaRPr lang="en-US" sz="1200" dirty="0"/>
          </a:p>
        </p:txBody>
      </p:sp>
      <p:pic>
        <p:nvPicPr>
          <p:cNvPr id="5" name="Image 0" descr="line">    </p:cNvPr>
          <p:cNvPicPr>
            <a:picLocks noChangeAspect="1"/>
          </p:cNvPicPr>
          <p:nvPr/>
        </p:nvPicPr>
        <p:blipFill>
          <a:blip r:embed="rId1"/>
          <a:srcRect l="-2057" r="-2057" t="0" b="0"/>
          <a:stretch/>
        </p:blipFill>
        <p:spPr>
          <a:xfrm>
            <a:off x="1643063" y="1945641"/>
            <a:ext cx="3985816" cy="3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28878" y="1790700"/>
            <a:ext cx="860584" cy="340360"/>
          </a:xfrm>
          <a:prstGeom prst="roundRect">
            <a:avLst>
              <a:gd name="adj" fmla="val 50000"/>
            </a:avLst>
          </a:prstGeom>
          <a:solidFill>
            <a:srgbClr val="2F5AA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 2</a:t>
            </a:r>
            <a:endParaRPr lang="en-US" sz="1200" dirty="0"/>
          </a:p>
        </p:txBody>
      </p:sp>
      <p:pic>
        <p:nvPicPr>
          <p:cNvPr id="7" name="Image 1" descr="line">    </p:cNvPr>
          <p:cNvPicPr>
            <a:picLocks noChangeAspect="1"/>
          </p:cNvPicPr>
          <p:nvPr/>
        </p:nvPicPr>
        <p:blipFill>
          <a:blip r:embed="rId2"/>
          <a:srcRect l="-2057" r="-2057" t="0" b="0"/>
          <a:stretch/>
        </p:blipFill>
        <p:spPr>
          <a:xfrm>
            <a:off x="6489462" y="1945641"/>
            <a:ext cx="3985816" cy="3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475278" y="1790700"/>
            <a:ext cx="903923" cy="340360"/>
          </a:xfrm>
          <a:prstGeom prst="roundRect">
            <a:avLst>
              <a:gd name="adj" fmla="val 50000"/>
            </a:avLst>
          </a:prstGeom>
          <a:solidFill>
            <a:srgbClr val="E6ECF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Decisão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12800" y="2385061"/>
            <a:ext cx="5156200" cy="2615565"/>
          </a:xfrm>
          <a:prstGeom prst="roundRect">
            <a:avLst>
              <a:gd name="adj" fmla="val 4856"/>
            </a:avLst>
          </a:prstGeom>
          <a:solidFill>
            <a:srgbClr val="F5F7FB"/>
          </a:solidFill>
          <a:ln/>
        </p:spPr>
      </p:sp>
      <p:sp>
        <p:nvSpPr>
          <p:cNvPr id="10" name="Text 6"/>
          <p:cNvSpPr/>
          <p:nvPr/>
        </p:nvSpPr>
        <p:spPr>
          <a:xfrm>
            <a:off x="1386999" y="3192463"/>
            <a:ext cx="629603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6000" dirty="0"/>
          </a:p>
        </p:txBody>
      </p:sp>
      <p:sp>
        <p:nvSpPr>
          <p:cNvPr id="11" name="Text 7"/>
          <p:cNvSpPr/>
          <p:nvPr/>
        </p:nvSpPr>
        <p:spPr>
          <a:xfrm>
            <a:off x="1278223" y="3979863"/>
            <a:ext cx="8471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565400" y="3197543"/>
            <a:ext cx="324408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Descoberta do problema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565400" y="3548063"/>
            <a:ext cx="3244088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Formulário de descoberta sobre o comportamento financeiro atual, as dificuldades e as necessidades.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23000" y="2385061"/>
            <a:ext cx="5156200" cy="2615565"/>
          </a:xfrm>
          <a:prstGeom prst="roundRect">
            <a:avLst>
              <a:gd name="adj" fmla="val 4856"/>
            </a:avLst>
          </a:prstGeom>
          <a:solidFill>
            <a:srgbClr val="F5F7FB"/>
          </a:solidFill>
          <a:ln/>
        </p:spPr>
      </p:sp>
      <p:sp>
        <p:nvSpPr>
          <p:cNvPr id="15" name="Text 11"/>
          <p:cNvSpPr/>
          <p:nvPr/>
        </p:nvSpPr>
        <p:spPr>
          <a:xfrm>
            <a:off x="6620415" y="3192463"/>
            <a:ext cx="983171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2F5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6000" dirty="0"/>
          </a:p>
        </p:txBody>
      </p:sp>
      <p:sp>
        <p:nvSpPr>
          <p:cNvPr id="16" name="Text 12"/>
          <p:cNvSpPr/>
          <p:nvPr/>
        </p:nvSpPr>
        <p:spPr>
          <a:xfrm>
            <a:off x="6688423" y="3979863"/>
            <a:ext cx="8471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975600" y="3304223"/>
            <a:ext cx="324408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da proposta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7975600" y="3654743"/>
            <a:ext cx="324408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 page com a proposta e formulário de interesse em testar a solução.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2800" y="5254625"/>
            <a:ext cx="10566400" cy="587375"/>
          </a:xfrm>
          <a:prstGeom prst="roundRect">
            <a:avLst>
              <a:gd name="adj" fmla="val 17297"/>
            </a:avLst>
          </a:prstGeom>
          <a:solidFill>
            <a:srgbClr val="0D1F3C"/>
          </a:solidFill>
          <a:ln/>
        </p:spPr>
        <p:txBody>
          <a:bodyPr wrap="square" lIns="198842" tIns="135342" rIns="0" bIns="109942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etapa 2 mediu a percepção da proposta e o interesse declarado — não o uso de um produto funcional.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812800" y="6238239"/>
            <a:ext cx="40035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Nenhum MVP funcional foi testado nesta fase.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9661366" y="6238239"/>
            <a:ext cx="171783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Ozzy Finances · 4/7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EVIDÊNCIAS COM USUÁRIOS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15 respondentes disseram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793875"/>
            <a:ext cx="5124450" cy="4044950"/>
          </a:xfrm>
          <a:prstGeom prst="roundRect">
            <a:avLst>
              <a:gd name="adj" fmla="val 3061"/>
            </a:avLst>
          </a:prstGeom>
          <a:solidFill>
            <a:srgbClr val="FDFDFE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024382"/>
            <a:ext cx="48033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Interesse em testar gratuitamente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46480" y="2405382"/>
            <a:ext cx="1834912" cy="457200"/>
          </a:xfrm>
          <a:prstGeom prst="roundRect">
            <a:avLst>
              <a:gd name="adj" fmla="val 16667"/>
            </a:avLst>
          </a:prstGeom>
          <a:solidFill>
            <a:srgbClr val="0D1F3C"/>
          </a:solidFill>
          <a:ln/>
        </p:spPr>
      </p:sp>
      <p:sp>
        <p:nvSpPr>
          <p:cNvPr id="7" name="Shape 5"/>
          <p:cNvSpPr/>
          <p:nvPr/>
        </p:nvSpPr>
        <p:spPr>
          <a:xfrm>
            <a:off x="2919492" y="2405382"/>
            <a:ext cx="1834912" cy="457200"/>
          </a:xfrm>
          <a:prstGeom prst="roundRect">
            <a:avLst>
              <a:gd name="adj" fmla="val 16667"/>
            </a:avLst>
          </a:prstGeom>
          <a:solidFill>
            <a:srgbClr val="5B86D0"/>
          </a:solidFill>
          <a:ln/>
        </p:spPr>
      </p:sp>
      <p:sp>
        <p:nvSpPr>
          <p:cNvPr id="8" name="Shape 6"/>
          <p:cNvSpPr/>
          <p:nvPr/>
        </p:nvSpPr>
        <p:spPr>
          <a:xfrm>
            <a:off x="4792504" y="2405382"/>
            <a:ext cx="917416" cy="457200"/>
          </a:xfrm>
          <a:prstGeom prst="roundRect">
            <a:avLst>
              <a:gd name="adj" fmla="val 16667"/>
            </a:avLst>
          </a:prstGeom>
          <a:solidFill>
            <a:srgbClr val="C9D4E8"/>
          </a:solidFill>
          <a:ln/>
        </p:spPr>
      </p:sp>
      <p:sp>
        <p:nvSpPr>
          <p:cNvPr id="9" name="Text 7"/>
          <p:cNvSpPr/>
          <p:nvPr/>
        </p:nvSpPr>
        <p:spPr>
          <a:xfrm>
            <a:off x="1046480" y="3014982"/>
            <a:ext cx="188995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46480" y="3497582"/>
            <a:ext cx="188995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</a:t>
            </a: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40%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19492" y="3014982"/>
            <a:ext cx="188995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F5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919492" y="3497582"/>
            <a:ext cx="188995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Talvez</a:t>
            </a: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40%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92504" y="3014982"/>
            <a:ext cx="96821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92504" y="3497582"/>
            <a:ext cx="96821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</a:t>
            </a: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20%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6480" y="4953000"/>
            <a:ext cx="4663440" cy="655320"/>
          </a:xfrm>
          <a:prstGeom prst="roundRect">
            <a:avLst>
              <a:gd name="adj" fmla="val 13566"/>
            </a:avLst>
          </a:prstGeom>
          <a:solidFill>
            <a:srgbClr val="E6ECF7"/>
          </a:solidFill>
          <a:ln/>
        </p:spPr>
        <p:txBody>
          <a:bodyPr wrap="square" lIns="126362" tIns="88262" rIns="0" bIns="6286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 1 (4 respostas):</a:t>
            </a:r>
            <a:r>
              <a:rPr lang="en-US" sz="120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registros difíceis de manter, falta de tempo, esquecimento e resultado pouco claro.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1575" y="1793875"/>
            <a:ext cx="5124450" cy="4044950"/>
          </a:xfrm>
          <a:prstGeom prst="roundRect">
            <a:avLst>
              <a:gd name="adj" fmla="val 3061"/>
            </a:avLst>
          </a:prstGeom>
          <a:solidFill>
            <a:srgbClr val="FDFDFE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2080" y="2024382"/>
            <a:ext cx="48033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Dificuldades mais citadas na etapa 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82080" y="2405382"/>
            <a:ext cx="328692" cy="314960"/>
          </a:xfrm>
          <a:prstGeom prst="roundRect">
            <a:avLst>
              <a:gd name="adj" fmla="val 50000"/>
            </a:avLst>
          </a:prstGeom>
          <a:solidFill>
            <a:srgbClr val="2F5AA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37772" y="2455546"/>
            <a:ext cx="433398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Mistura de finanças pessoais e do negócio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82080" y="2809239"/>
            <a:ext cx="328692" cy="314960"/>
          </a:xfrm>
          <a:prstGeom prst="roundRect">
            <a:avLst>
              <a:gd name="adj" fmla="val 50000"/>
            </a:avLst>
          </a:prstGeom>
          <a:solidFill>
            <a:srgbClr val="2F5AA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37772" y="2859407"/>
            <a:ext cx="433398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saber se há lucro ou prejuízo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82080" y="3213100"/>
            <a:ext cx="328692" cy="314960"/>
          </a:xfrm>
          <a:prstGeom prst="roundRect">
            <a:avLst>
              <a:gd name="adj" fmla="val 50000"/>
            </a:avLst>
          </a:prstGeom>
          <a:solidFill>
            <a:srgbClr val="2F5AA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37772" y="3263264"/>
            <a:ext cx="433398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 de tempo para cuidar das finanças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82080" y="4739639"/>
            <a:ext cx="4663440" cy="868680"/>
          </a:xfrm>
          <a:prstGeom prst="roundRect">
            <a:avLst>
              <a:gd name="adj" fmla="val 10234"/>
            </a:avLst>
          </a:prstGeom>
          <a:solidFill>
            <a:srgbClr val="E6ECF7"/>
          </a:solidFill>
          <a:ln/>
        </p:spPr>
        <p:txBody>
          <a:bodyPr wrap="square" lIns="126362" tIns="88262" rIns="0" bIns="6286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Situações relatadas:</a:t>
            </a:r>
            <a:r>
              <a:rPr lang="en-US" sz="120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saber quanto realmente sobra, calcular o custo por produto e entender a rentabilidade de cada serviço.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39"/>
            <a:ext cx="79863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sobre os 15 respondentes, não sobre visitantes. Múltipla escolha: seleções não excludentes.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70987" y="6238239"/>
            <a:ext cx="170821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Ozzy Finances · 5/7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5A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LEITURA DOS DADOS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1"/>
            <a:ext cx="10883392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os dados confirmaram e contrariaram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765300"/>
            <a:ext cx="5156200" cy="3286125"/>
          </a:xfrm>
          <a:prstGeom prst="roundRect">
            <a:avLst>
              <a:gd name="adj" fmla="val 3092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765300"/>
            <a:ext cx="5156200" cy="3286125"/>
          </a:xfrm>
          <a:custGeom>
            <a:avLst/>
            <a:gdLst/>
            <a:ahLst/>
            <a:cxnLst/>
            <a:rect l="l" t="t" r="r" b="b"/>
            <a:pathLst>
              <a:path w="5156200" h="328612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54600" y="0"/>
                </a:lnTo>
                <a:arcTo hR="101600" wR="101600" stAng="16200000" swAng="5400000"/>
                <a:lnTo>
                  <a:pt x="51562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F8A5F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2004061"/>
            <a:ext cx="48399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8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Sinais favoráveis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6556" y="2374900"/>
            <a:ext cx="4727194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Dificuldade real para manter registros e entender o resultado.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Interesse declarado: 6 pessoas aceitaram testar gratuitamente.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Relatos concretos sobre custos, lucro e rentabilidade por serviço ou produto.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23000" y="1765300"/>
            <a:ext cx="5156200" cy="3286125"/>
          </a:xfrm>
          <a:prstGeom prst="roundRect">
            <a:avLst>
              <a:gd name="adj" fmla="val 3092"/>
            </a:avLst>
          </a:prstGeom>
          <a:solidFill>
            <a:srgbClr val="F5F7FB"/>
          </a:solidFill>
          <a:ln/>
        </p:spPr>
      </p:sp>
      <p:sp>
        <p:nvSpPr>
          <p:cNvPr id="9" name="Shape 7"/>
          <p:cNvSpPr/>
          <p:nvPr/>
        </p:nvSpPr>
        <p:spPr>
          <a:xfrm>
            <a:off x="6223000" y="1765300"/>
            <a:ext cx="5156200" cy="3286125"/>
          </a:xfrm>
          <a:custGeom>
            <a:avLst/>
            <a:gdLst/>
            <a:ahLst/>
            <a:cxnLst/>
            <a:rect l="l" t="t" r="r" b="b"/>
            <a:pathLst>
              <a:path w="5156200" h="328612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54600" y="0"/>
                </a:lnTo>
                <a:arcTo hR="101600" wR="101600" stAng="16200000" swAng="5400000"/>
                <a:lnTo>
                  <a:pt x="51562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0D1F3C"/>
          </a:solidFill>
          <a:ln/>
        </p:spPr>
      </p:sp>
      <p:sp>
        <p:nvSpPr>
          <p:cNvPr id="10" name="Text 8"/>
          <p:cNvSpPr/>
          <p:nvPr/>
        </p:nvSpPr>
        <p:spPr>
          <a:xfrm>
            <a:off x="6451600" y="2004061"/>
            <a:ext cx="48399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Limitações e contradições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56756" y="2374900"/>
            <a:ext cx="4727194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Nem todos viram o problema como relevante para si.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 já usa sistemas de gestão ou tem necessidades mais complexas.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“Talvez” é interesse ainda incerto.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medimos uso recorrente, retenção, disposição a pagar nem IA.</a:t>
            </a:r>
            <a:endParaRPr lang="en-US" sz="1200" dirty="0"/>
          </a:p>
          <a:p>
            <a:pPr algn="l" marL="148844" indent="-148844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0D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dados de visitantes e cliques: não há taxa de conversão.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5280025"/>
            <a:ext cx="10566400" cy="561975"/>
          </a:xfrm>
          <a:prstGeom prst="roundRect">
            <a:avLst>
              <a:gd name="adj" fmla="val 18079"/>
            </a:avLst>
          </a:prstGeom>
          <a:solidFill>
            <a:srgbClr val="0D1F3C"/>
          </a:solidFill>
          <a:ln/>
        </p:spPr>
        <p:txBody>
          <a:bodyPr wrap="square" lIns="198842" tIns="122642" rIns="0" bIns="97242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Sinais iniciais de validação, não prova de viabilidade comercial.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44934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Amostra pequena e não representativa do mercado.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66129" y="6238239"/>
            <a:ext cx="171307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5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Ozzy Finances · 6/7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4475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FB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03961"/>
            <a:ext cx="4447540" cy="1145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PERSEGUIR COM AJUSTES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2501900"/>
            <a:ext cx="4447540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C9D4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 mostrou sinais de relevância e a proposta gerou interesse inicial. Seguem em aberto o público prioritário, a experiência ideal e a disposição a pagar.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88000" y="812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FB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88000" y="1115061"/>
            <a:ext cx="5791200" cy="657860"/>
          </a:xfrm>
          <a:prstGeom prst="roundRect">
            <a:avLst>
              <a:gd name="adj" fmla="val 13514"/>
            </a:avLst>
          </a:prstGeom>
          <a:solidFill>
            <a:srgbClr val="182D52"/>
          </a:solidFill>
          <a:ln/>
        </p:spPr>
      </p:sp>
      <p:sp>
        <p:nvSpPr>
          <p:cNvPr id="7" name="Text 5"/>
          <p:cNvSpPr/>
          <p:nvPr/>
        </p:nvSpPr>
        <p:spPr>
          <a:xfrm>
            <a:off x="5740400" y="1229361"/>
            <a:ext cx="12374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B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0346" y="1229361"/>
            <a:ext cx="5445048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Focar</a:t>
            </a:r>
            <a:r>
              <a:rPr lang="en-US" sz="1300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prestadores de serviço e autônomos com controle manual ou irregular.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88000" y="1861821"/>
            <a:ext cx="5791200" cy="657860"/>
          </a:xfrm>
          <a:prstGeom prst="roundRect">
            <a:avLst>
              <a:gd name="adj" fmla="val 13514"/>
            </a:avLst>
          </a:prstGeom>
          <a:solidFill>
            <a:srgbClr val="182D52"/>
          </a:solidFill>
          <a:ln/>
        </p:spPr>
      </p:sp>
      <p:sp>
        <p:nvSpPr>
          <p:cNvPr id="10" name="Text 8"/>
          <p:cNvSpPr/>
          <p:nvPr/>
        </p:nvSpPr>
        <p:spPr>
          <a:xfrm>
            <a:off x="5740400" y="1976121"/>
            <a:ext cx="15613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B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72731" y="1976121"/>
            <a:ext cx="541169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Prototipar</a:t>
            </a:r>
            <a:r>
              <a:rPr lang="en-US" sz="1300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fluxo básico: registrar receitas e despesas e ver o resultado.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588000" y="2608582"/>
            <a:ext cx="5791200" cy="657860"/>
          </a:xfrm>
          <a:prstGeom prst="roundRect">
            <a:avLst>
              <a:gd name="adj" fmla="val 13514"/>
            </a:avLst>
          </a:prstGeom>
          <a:solidFill>
            <a:srgbClr val="182D52"/>
          </a:solidFill>
          <a:ln/>
        </p:spPr>
      </p:sp>
      <p:sp>
        <p:nvSpPr>
          <p:cNvPr id="13" name="Text 11"/>
          <p:cNvSpPr/>
          <p:nvPr/>
        </p:nvSpPr>
        <p:spPr>
          <a:xfrm>
            <a:off x="5740400" y="2722882"/>
            <a:ext cx="15930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B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75906" y="2722882"/>
            <a:ext cx="5408421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Testar</a:t>
            </a:r>
            <a:r>
              <a:rPr lang="en-US" sz="1300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usuários reais por período definido: mantêm os registros? Ajuda a decidir?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88000" y="3355339"/>
            <a:ext cx="5791200" cy="657860"/>
          </a:xfrm>
          <a:prstGeom prst="roundRect">
            <a:avLst>
              <a:gd name="adj" fmla="val 13514"/>
            </a:avLst>
          </a:prstGeom>
          <a:solidFill>
            <a:srgbClr val="182D52"/>
          </a:solidFill>
          <a:ln/>
        </p:spPr>
      </p:sp>
      <p:sp>
        <p:nvSpPr>
          <p:cNvPr id="16" name="Text 14"/>
          <p:cNvSpPr/>
          <p:nvPr/>
        </p:nvSpPr>
        <p:spPr>
          <a:xfrm>
            <a:off x="5740400" y="3469639"/>
            <a:ext cx="16454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B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1145" y="3469639"/>
            <a:ext cx="540302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Investigar</a:t>
            </a:r>
            <a:r>
              <a:rPr lang="en-US" sz="1300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disposição a pagar antes de ampliar o desenvolvimento.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88000" y="4102100"/>
            <a:ext cx="5791200" cy="459740"/>
          </a:xfrm>
          <a:prstGeom prst="roundRect">
            <a:avLst>
              <a:gd name="adj" fmla="val 19337"/>
            </a:avLst>
          </a:prstGeom>
          <a:solidFill>
            <a:srgbClr val="182D52"/>
          </a:solidFill>
          <a:ln/>
        </p:spPr>
      </p:sp>
      <p:sp>
        <p:nvSpPr>
          <p:cNvPr id="19" name="Text 17"/>
          <p:cNvSpPr/>
          <p:nvPr/>
        </p:nvSpPr>
        <p:spPr>
          <a:xfrm>
            <a:off x="5740400" y="4216400"/>
            <a:ext cx="15549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B0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72096" y="4216400"/>
            <a:ext cx="541234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Avaliar IA</a:t>
            </a:r>
            <a:r>
              <a:rPr lang="en-US" sz="1300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só depois de comprovar a utilidade do fluxo básico.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39"/>
            <a:ext cx="72842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DFD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Ouvir usuários não confirmou a ideia inteira — mostrou onde vale a pena construir.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76035" y="6238239"/>
            <a:ext cx="170316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4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Ozzy Finances · 7/7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zzy Finances — Pitch: da hipótese à evidência">
  <a:themeElements>
    <a:clrScheme name="Ozzy Finances — Pitch: da hipótese à evidência">
      <a:dk1>
        <a:srgbClr val="0D1F3C"/>
      </a:dk1>
      <a:lt1>
        <a:srgbClr val="FDFDFE"/>
      </a:lt1>
      <a:dk2>
        <a:srgbClr val="49576D"/>
      </a:dk2>
      <a:lt2>
        <a:srgbClr val="E5E7EB"/>
      </a:lt2>
      <a:accent1>
        <a:srgbClr val="2F5AA8"/>
      </a:accent1>
      <a:accent2>
        <a:srgbClr val="8FB0EA"/>
      </a:accent2>
      <a:accent3>
        <a:srgbClr val="1F8A5F"/>
      </a:accent3>
      <a:accent4>
        <a:srgbClr val="5B86D0"/>
      </a:accent4>
      <a:accent5>
        <a:srgbClr val="55607A"/>
      </a:accent5>
      <a:accent6>
        <a:srgbClr val="C9D4E8"/>
      </a:accent6>
      <a:hlink>
        <a:srgbClr val="0563C1"/>
      </a:hlink>
      <a:folHlink>
        <a:srgbClr val="954F72"/>
      </a:folHlink>
    </a:clrScheme>
    <a:fontScheme name="Ozzy Finances — Pitch: da hipótese à evidência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Ozzy Finances — Pitch: da hipótese à evidência</dc:title>
  <dc:subject/>
  <dc:creator/>
  <cp:lastModifiedBy/>
  <cp:revision>1</cp:revision>
  <dcterms:created xsi:type="dcterms:W3CDTF">2026-10-10T01:22:51Z</dcterms:created>
  <dcterms:modified xsi:type="dcterms:W3CDTF">2026-10-10T01:22:51Z</dcterms:modified>
</cp:coreProperties>
</file>